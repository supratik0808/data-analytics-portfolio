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 Hired per Year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220</c:v>
                </c:pt>
                <c:pt idx="1">
                  <c:v>1122</c:v>
                </c:pt>
                <c:pt idx="2">
                  <c:v>1142</c:v>
                </c:pt>
                <c:pt idx="3">
                  <c:v>1090</c:v>
                </c:pt>
                <c:pt idx="4">
                  <c:v>1099</c:v>
                </c:pt>
                <c:pt idx="5">
                  <c:v>1140</c:v>
                </c:pt>
                <c:pt idx="6">
                  <c:v>1053</c:v>
                </c:pt>
                <c:pt idx="7">
                  <c:v>1105</c:v>
                </c:pt>
                <c:pt idx="8">
                  <c:v>1122</c:v>
                </c:pt>
                <c:pt idx="9">
                  <c:v>1147</c:v>
                </c:pt>
                <c:pt idx="10">
                  <c:v>1090</c:v>
                </c:pt>
                <c:pt idx="11">
                  <c:v>1100</c:v>
                </c:pt>
                <c:pt idx="12">
                  <c:v>1080</c:v>
                </c:pt>
                <c:pt idx="13">
                  <c:v>1120</c:v>
                </c:pt>
                <c:pt idx="14">
                  <c:v>1095</c:v>
                </c:pt>
                <c:pt idx="15">
                  <c:v>1105</c:v>
                </c:pt>
                <c:pt idx="16">
                  <c:v>1110</c:v>
                </c:pt>
                <c:pt idx="17">
                  <c:v>1100</c:v>
                </c:pt>
                <c:pt idx="18">
                  <c:v>1095</c:v>
                </c:pt>
                <c:pt idx="19">
                  <c:v>1090</c:v>
                </c:pt>
                <c:pt idx="20">
                  <c:v>1012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0A5FA"/>
              </a:solidFill>
              <a:effectLst/>
            </c:spPr>
          </c:dPt>
          <c:dPt>
            <c:idx val="1"/>
            <c:bubble3D val="0"/>
            <c:spPr>
              <a:solidFill>
                <a:srgbClr val="F87171"/>
              </a:solidFill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Non-Conforming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50.81</c:v>
                </c:pt>
                <c:pt idx="1">
                  <c:v>46.46</c:v>
                </c:pt>
                <c:pt idx="2">
                  <c:v>2.73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Auditing</c:v>
                  </c:pt>
                  <c:pt idx="1">
                    <c:v>Support</c:v>
                  </c:pt>
                  <c:pt idx="2">
                    <c:v>Research Dev</c:v>
                  </c:pt>
                  <c:pt idx="3">
                    <c:v>Business Dev</c:v>
                  </c:pt>
                  <c:pt idx="4">
                    <c:v>Product Mgmt</c:v>
                  </c:pt>
                  <c:pt idx="5">
                    <c:v>Services</c:v>
                  </c:pt>
                  <c:pt idx="6">
                    <c:v>Marketing</c:v>
                  </c:pt>
                  <c:pt idx="7">
                    <c:v>Legal</c:v>
                  </c:pt>
                  <c:pt idx="8">
                    <c:v>Training</c:v>
                  </c:pt>
                  <c:pt idx="9">
                    <c:v>Human Resources</c:v>
                  </c:pt>
                  <c:pt idx="10">
                    <c:v>Sales</c:v>
                  </c:pt>
                  <c:pt idx="11">
                    <c:v>Accounting</c:v>
                  </c:pt>
                  <c:pt idx="12">
                    <c:v>Engineering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400</c:v>
                </c:pt>
                <c:pt idx="1">
                  <c:v>600</c:v>
                </c:pt>
                <c:pt idx="2">
                  <c:v>700</c:v>
                </c:pt>
                <c:pt idx="3">
                  <c:v>750</c:v>
                </c:pt>
                <c:pt idx="4">
                  <c:v>800</c:v>
                </c:pt>
                <c:pt idx="5">
                  <c:v>900</c:v>
                </c:pt>
                <c:pt idx="6">
                  <c:v>1100</c:v>
                </c:pt>
                <c:pt idx="7">
                  <c:v>1200</c:v>
                </c:pt>
                <c:pt idx="8">
                  <c:v>1700</c:v>
                </c:pt>
                <c:pt idx="9">
                  <c:v>1800</c:v>
                </c:pt>
                <c:pt idx="10">
                  <c:v>1800</c:v>
                </c:pt>
                <c:pt idx="11">
                  <c:v>3300</c:v>
                </c:pt>
                <c:pt idx="12">
                  <c:v>6700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American Indian</c:v>
                  </c:pt>
                  <c:pt idx="1">
                    <c:v>Native Hawaiian</c:v>
                  </c:pt>
                  <c:pt idx="2">
                    <c:v>Hispanic/Latino</c:v>
                  </c:pt>
                  <c:pt idx="3">
                    <c:v>Asian</c:v>
                  </c:pt>
                  <c:pt idx="4">
                    <c:v>Black/African Amer.</c:v>
                  </c:pt>
                  <c:pt idx="5">
                    <c:v>Two or More Races</c:v>
                  </c:pt>
                  <c:pt idx="6">
                    <c:v>White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</c:v>
                </c:pt>
                <c:pt idx="1">
                  <c:v>1200</c:v>
                </c:pt>
                <c:pt idx="2">
                  <c:v>2500</c:v>
                </c:pt>
                <c:pt idx="3">
                  <c:v>3600</c:v>
                </c:pt>
                <c:pt idx="4">
                  <c:v>3600</c:v>
                </c:pt>
                <c:pt idx="5">
                  <c:v>3600</c:v>
                </c:pt>
                <c:pt idx="6">
                  <c:v>6300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Kentucky</c:v>
                  </c:pt>
                  <c:pt idx="1">
                    <c:v>Wisconsin</c:v>
                  </c:pt>
                  <c:pt idx="2">
                    <c:v>Michigan</c:v>
                  </c:pt>
                  <c:pt idx="3">
                    <c:v>Indiana</c:v>
                  </c:pt>
                  <c:pt idx="4">
                    <c:v>Illinois</c:v>
                  </c:pt>
                  <c:pt idx="5">
                    <c:v>Pennsylvania</c:v>
                  </c:pt>
                  <c:pt idx="6">
                    <c:v>Ohio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300</c:v>
                </c:pt>
                <c:pt idx="1">
                  <c:v>400</c:v>
                </c:pt>
                <c:pt idx="2">
                  <c:v>700</c:v>
                </c:pt>
                <c:pt idx="3">
                  <c:v>700</c:v>
                </c:pt>
                <c:pt idx="4">
                  <c:v>900</c:v>
                </c:pt>
                <c:pt idx="5">
                  <c:v>1100</c:v>
                </c:pt>
                <c:pt idx="6">
                  <c:v>18000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4B8A6">
              <a:alpha val="12000"/>
            </a:srgbClr>
          </a:solidFill>
          <a:ln w="635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560320"/>
            <a:ext cx="2743200" cy="2743200"/>
          </a:xfrm>
          <a:prstGeom prst="ellipse">
            <a:avLst/>
          </a:prstGeom>
          <a:solidFill>
            <a:srgbClr val="A78BFA">
              <a:alpha val="10000"/>
            </a:srgbClr>
          </a:solidFill>
          <a:ln w="635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87171">
              <a:alpha val="8000"/>
            </a:srgbClr>
          </a:solidFill>
          <a:ln w="6350">
            <a:solidFill>
              <a:srgbClr val="F87171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 – 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Analysis Report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2004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workforce insights for strategic decision making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|  22,214 Employees  |  Power BI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2011680"/>
          </a:xfrm>
          <a:prstGeom prst="roundRect">
            <a:avLst>
              <a:gd name="adj" fmla="val 6977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22,214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workforce headcount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65960" cy="2011680"/>
          </a:xfrm>
          <a:prstGeom prst="roundRect">
            <a:avLst>
              <a:gd name="adj" fmla="val 6977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645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Mid-career workforce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965960" cy="2011680"/>
          </a:xfrm>
          <a:prstGeom prst="roundRect">
            <a:avLst>
              <a:gd name="adj" fmla="val 6977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1645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634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home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1097280"/>
            <a:ext cx="1965960" cy="2011680"/>
          </a:xfrm>
          <a:prstGeom prst="roundRect">
            <a:avLst>
              <a:gd name="adj" fmla="val 6977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1645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75.25%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5800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Workers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based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246120"/>
            <a:ext cx="8595360" cy="160020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Observation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employs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22,214 people 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average age of </a:t>
            </a:r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38.43 years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indicating a predominantly mid-career workforce. With only </a:t>
            </a:r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24.75% working remotely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there is significant opportunity to expand flexible work policies and attract younger talent.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Trend Analysis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0584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0" y="107899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220 employees hired in 2000 — company was in early growth stage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1993392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2066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0" y="206654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scale-up from 2001–2002, stabilizing at 1,000–1,140/year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980944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54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0" y="305409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saw a dip to 1,012 hires — COVID-19 halted recruitment drive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3968496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041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83680" y="404164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Resume aggressive hiring post-2020 to recover workforce strength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005840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94960" y="1078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0" y="10789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50.81%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212080" y="1783080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94960" y="1856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0" y="1856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46.46%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212080" y="2560320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9496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98080" y="26334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2.73%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212080" y="347472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9496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Suggestion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94960" y="39776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has a fairly balanced gender ratio. Focus on increasing female leadership roles and creating inclusive policies for non-conforming employees.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by Department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0058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07899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🏆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75120" y="107899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leads with 6,700+ — company is tech-focused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72200" y="1993392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206654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💼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0" y="206654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at 3,300 is a strong 2nd — finance operations are robust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72200" y="2980944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63640" y="305409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⚖️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75120" y="305409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HR &amp; Training are balanced at 1,700–1,800 each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3968496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63640" y="40416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💡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75120" y="404164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Invest in upskilling Engineering teams regularly to stay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by Race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00584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97880" y="107899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⚪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10789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employees highest at 6,300 — 28% of total workforce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06440" y="1993392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97880" y="206654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🌍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09360" y="20665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Asian &amp; Mixed Race nearly equal at 3,600 each — good diversity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06440" y="2980944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97880" y="305409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⚠️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09360" y="30540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Hispanic/Latino lowest at 2,500 — underrepresented vs. population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3968496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40416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💡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40416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Launch targeted Hispanic/Latino recruitment partnerships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by State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00584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97880" y="107899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📍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10789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has 18,000 employees — 81% of entire workforce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06440" y="1993392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97880" y="206654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09360" y="20665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Pennsylvania (1,100) is distant 2nd — 10x less than Ohio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06440" y="2980944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97880" y="305409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⚠️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09360" y="30540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Ohio concentration = high business continuity risk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3968496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40416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💡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40416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Open satellite offices in IL, PA &amp; MI for geographic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 w="635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Suggestions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 Plan for the Company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5196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61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114300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Remote 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03320" y="114300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32688" y="144475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24.75% work remotely. Offering more remote options will attract younger talent, reduce facility costs and improve employee satisfaction.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25196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161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13248" y="114300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Hiring Focus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83880" y="114300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13248" y="144475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Hispanic/Latino and Non-Conforming representation through targeted recruitment, partnerships with minority institutions and D&amp;I policies.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25196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2395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2688" y="237744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237744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2688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workforce in Ohio creates concentration risk. Expand satellite offices to Pennsylvania, Illinois and Michigan for better distribution.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25196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2395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13248" y="237744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Hiring Recovery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83880" y="237744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13248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dipped in 2020 due to COVID-19. Launch structured campus recruitment and employee referral programs to rebuild growth momentum.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425196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36301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32688" y="361188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Young Talent Pipeline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361188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32688" y="391363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of 38.43 indicates a mid-career heavy workforce. Recruit Gen Z through internships, apprenticeships and campus drives.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520440"/>
            <a:ext cx="425196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64608" y="36301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13248" y="361188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Leadership Development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3880" y="361188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13248" y="391363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near-equal gender ratio, focus on promoting female employees to leadership and senior roles through mentorship and sponsorship programs.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 w="635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87171">
              <a:alpha val="10000"/>
            </a:srgbClr>
          </a:solidFill>
          <a:ln w="6350">
            <a:solidFill>
              <a:srgbClr val="F8717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PRDA-03  |  HR Analytics Insights Report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200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22,214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310896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3200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31720" y="36118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0" y="310896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3200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36118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310896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3200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75.25%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0" y="36118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310896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32004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17.69%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36118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PRDA-03 Team  |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PRDA-03 HR Analytics Insights</dc:title>
  <dc:subject>PptxGenJS Presentation</dc:subject>
  <dc:creator>PptxGenJS</dc:creator>
  <cp:lastModifiedBy>PptxGenJS</cp:lastModifiedBy>
  <cp:revision>1</cp:revision>
  <dcterms:created xsi:type="dcterms:W3CDTF">2026-06-27T13:00:24Z</dcterms:created>
  <dcterms:modified xsi:type="dcterms:W3CDTF">2026-06-27T13:00:24Z</dcterms:modified>
</cp:coreProperties>
</file>